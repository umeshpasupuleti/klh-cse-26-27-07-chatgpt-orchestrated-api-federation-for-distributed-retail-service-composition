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  <p:sldId id="9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25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25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25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25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25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25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815263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2420030251 - M Rakesh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2420030576 – E Hitesh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2420030027 – P Umesh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608990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Venkateswari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ChatGPT-Orchestrated API Federation for Distributed Retail Service Composition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742025" y="1357299"/>
            <a:ext cx="6271184" cy="4143401"/>
            <a:chOff x="1929643" y="1656655"/>
            <a:chExt cx="6271184" cy="414340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Gap Identification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Innovation, Creativity And </a:t>
              </a:r>
              <a:r>
                <a:rPr lang="en-US" b="1" dirty="0" err="1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Novelity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Feasibility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Project Plan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D35271-AA73-29DD-F095-41074CB2A57C}"/>
              </a:ext>
            </a:extLst>
          </p:cNvPr>
          <p:cNvSpPr txBox="1"/>
          <p:nvPr/>
        </p:nvSpPr>
        <p:spPr>
          <a:xfrm>
            <a:off x="6592824" y="20299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0C662-0C20-B6A5-FA3B-4F0D2C9460A0}"/>
              </a:ext>
            </a:extLst>
          </p:cNvPr>
          <p:cNvSpPr txBox="1"/>
          <p:nvPr/>
        </p:nvSpPr>
        <p:spPr>
          <a:xfrm>
            <a:off x="1014984" y="1499616"/>
            <a:ext cx="101132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Modern e-commerce systems provide multiple services such as product search, inventory, cart, and order management.</a:t>
            </a:r>
            <a:br>
              <a:rPr lang="en-IN"/>
            </a:br>
            <a:r>
              <a:rPr lang="en-IN"/>
              <a:t>Users often need to perform several separate operations to complete a single shopping requirement.</a:t>
            </a:r>
            <a:br>
              <a:rPr lang="en-IN"/>
            </a:br>
            <a:r>
              <a:rPr lang="en-IN"/>
              <a:t>Existing microservice architectures do not inherently understand complex natural-language requests.</a:t>
            </a:r>
            <a:br>
              <a:rPr lang="en-IN"/>
            </a:br>
            <a:r>
              <a:rPr lang="en-IN"/>
              <a:t>There is a need for an intelligent mechanism to interpret user intent and coordinate the required services.</a:t>
            </a:r>
            <a:br>
              <a:rPr lang="en-IN"/>
            </a:br>
            <a:r>
              <a:rPr lang="en-IN"/>
              <a:t>The proposed system addresses this using </a:t>
            </a:r>
            <a:r>
              <a:rPr lang="en-IN" b="1"/>
              <a:t>ChatGPT-based adaptive service composition</a:t>
            </a:r>
            <a:r>
              <a:rPr lang="en-IN"/>
              <a:t> across distributed retail microservices.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0FA6D3-2055-2D9C-9A71-87193EF97EA4}"/>
              </a:ext>
            </a:extLst>
          </p:cNvPr>
          <p:cNvSpPr txBox="1"/>
          <p:nvPr/>
        </p:nvSpPr>
        <p:spPr>
          <a:xfrm>
            <a:off x="978408" y="1517904"/>
            <a:ext cx="101681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Develop a distributed retail microservice architecture</a:t>
            </a:r>
            <a:r>
              <a:rPr lang="en-IN"/>
              <a:t> for Product, Inventory, Cart, Order, Payment and related services. </a:t>
            </a:r>
          </a:p>
          <a:p>
            <a:pPr lvl="0"/>
            <a:r>
              <a:rPr lang="en-IN" b="1"/>
              <a:t>Integrate ChatGPT for natural-language intent and constraint extraction</a:t>
            </a:r>
            <a:r>
              <a:rPr lang="en-IN"/>
              <a:t> from customer requests. </a:t>
            </a:r>
          </a:p>
          <a:p>
            <a:pPr lvl="0"/>
            <a:r>
              <a:rPr lang="en-IN" b="1"/>
              <a:t>Develop an adaptive service-composition layer</a:t>
            </a:r>
            <a:r>
              <a:rPr lang="en-IN"/>
              <a:t> that maps user intent to the required retail microservices. </a:t>
            </a:r>
          </a:p>
          <a:p>
            <a:pPr lvl="0"/>
            <a:r>
              <a:rPr lang="en-IN" b="1"/>
              <a:t>Implement backend validation and controlled execution</a:t>
            </a:r>
            <a:r>
              <a:rPr lang="en-IN"/>
              <a:t> so that AI-generated actions cannot directly bypass business rules or databases.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6575481"/>
              </p:ext>
            </p:extLst>
          </p:nvPr>
        </p:nvGraphicFramePr>
        <p:xfrm>
          <a:off x="274646" y="689466"/>
          <a:ext cx="11642705" cy="60069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98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Samoylenko H.T. &amp; Selivanova A.V. (2024)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Microservice Architecture of the E-Commerce System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Decomposes e-commerce functionality into independent microservices • Defines functional and non-functional requirements • Uses client-server and microservice architecture • Supports independent deployment and scaling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Microservices improve modularity, flexibility and scalability of e-commerce systems • Different business functions can be implemented as independent services • Provides a structured architecture for distributed retail applications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Focuses mainly on architectural design of e-commerce microservices • Does not address natural-language interaction or AI-based service selection/composition 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Wang et al. (Gorilla, 2023/2024)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Gorilla: Teaching LLMs to Use Tools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Fine-tunes an LLM for API/tool usage • Introduces </a:t>
                      </a:r>
                      <a:r>
                        <a:rPr lang="en-IN" sz="1400" b="1" dirty="0" err="1"/>
                        <a:t>APIBench</a:t>
                      </a:r>
                      <a:r>
                        <a:rPr lang="en-IN" sz="1400" dirty="0"/>
                        <a:t> for evaluating API calls • Uses document retrieval to handle changing API documentation • Focuses on accurate API generation and tool selection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LLMs can interact with external APIs and tools • Retrieval improves adaptation to changing APIs • Demonstrates the potential of LLMs for converting natural-language requirements into executable API calls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Primarily focuses on generating API calls rather than complete multi-service retail workflows • Reliability, validation and orchestration across multiple business services remain important challenges 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Qin et al. (2023)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ToolLLM</a:t>
                      </a:r>
                      <a:r>
                        <a:rPr lang="en-IN" sz="1400" dirty="0"/>
                        <a:t>: Facilitating Large Language Models to Master 16,000+ Real-World APIs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Develops a general tool-use framework for LLMs • Creates the </a:t>
                      </a:r>
                      <a:r>
                        <a:rPr lang="en-IN" sz="1400" b="1" dirty="0" err="1"/>
                        <a:t>ToolBench</a:t>
                      </a:r>
                      <a:r>
                        <a:rPr lang="en-IN" sz="1400" dirty="0"/>
                        <a:t> dataset using ChatGPT-generated instructions • Trains and evaluates models for selecting and using real-world APIs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LLMs can learn to identify and invoke large numbers of external APIs to satisfy user instructions • Demonstrates the feasibility of tool-based natural-language interaction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Primarily addresses general API/tool usage rather than domain-specific retail service composition • Coordinating multiple dependent APIs and enforcing business constraints requires additional system-level orchestration 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B562A3-6EF1-9F08-D010-D743A718D644}"/>
              </a:ext>
            </a:extLst>
          </p:cNvPr>
          <p:cNvSpPr txBox="1"/>
          <p:nvPr/>
        </p:nvSpPr>
        <p:spPr>
          <a:xfrm>
            <a:off x="905256" y="1728216"/>
            <a:ext cx="102504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Gap 1 — No intelligent retail-specific service composition</a:t>
            </a:r>
            <a:br>
              <a:rPr lang="en-IN"/>
            </a:br>
            <a:r>
              <a:rPr lang="en-IN"/>
              <a:t>Existing e-commerce microservice research establishes modular and scalable service architectures, but does not provide an AI-driven mechanism for dynamically composing services from natural-language shopping requirements. </a:t>
            </a:r>
          </a:p>
          <a:p>
            <a:r>
              <a:rPr lang="en-IN" b="1"/>
              <a:t>Gap 2 — API-use research is not focused on retail transactions</a:t>
            </a:r>
            <a:br>
              <a:rPr lang="en-IN"/>
            </a:br>
            <a:r>
              <a:rPr lang="en-IN"/>
              <a:t>LLM API-use studies demonstrate API selection and invocation, but they do not sufficiently address domain-specific constraints such as inventory validation, cart operations, order consistency, and payment workflows. </a:t>
            </a:r>
          </a:p>
          <a:p>
            <a:r>
              <a:rPr lang="en-IN" b="1"/>
              <a:t>Gap 3 — Service composition requires validation and orchestration</a:t>
            </a:r>
            <a:br>
              <a:rPr lang="en-IN"/>
            </a:br>
            <a:r>
              <a:rPr lang="en-IN"/>
              <a:t>Research on ChatGPT-based service composition shows that LLMs can help generate multi-service workflows, but reliable execution still requires backend validation, dependency management, and controlled orchestration.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D5C8AE-5021-FEDF-73C4-6DA450228388}"/>
              </a:ext>
            </a:extLst>
          </p:cNvPr>
          <p:cNvSpPr txBox="1"/>
          <p:nvPr/>
        </p:nvSpPr>
        <p:spPr>
          <a:xfrm>
            <a:off x="1014984" y="1554480"/>
            <a:ext cx="102047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Innovation</a:t>
            </a:r>
          </a:p>
          <a:p>
            <a:pPr lvl="0"/>
            <a:r>
              <a:rPr lang="en-IN"/>
              <a:t>Integration of </a:t>
            </a:r>
            <a:r>
              <a:rPr lang="en-IN" b="1"/>
              <a:t>ChatGPT with a distributed retail microservice architecture</a:t>
            </a:r>
            <a:r>
              <a:rPr lang="en-IN"/>
              <a:t>. </a:t>
            </a:r>
          </a:p>
          <a:p>
            <a:pPr lvl="0"/>
            <a:r>
              <a:rPr lang="en-IN"/>
              <a:t>Enables customers to interact with the shopping system using </a:t>
            </a:r>
            <a:r>
              <a:rPr lang="en-IN" b="1"/>
              <a:t>natural-language queries</a:t>
            </a:r>
            <a:r>
              <a:rPr lang="en-IN"/>
              <a:t>. </a:t>
            </a:r>
          </a:p>
          <a:p>
            <a:pPr lvl="0"/>
            <a:r>
              <a:rPr lang="en-IN"/>
              <a:t>Converts user requirements into structured </a:t>
            </a:r>
            <a:r>
              <a:rPr lang="en-IN" b="1"/>
              <a:t>intent, entities, constraints, and actions</a:t>
            </a:r>
            <a:r>
              <a:rPr lang="en-IN"/>
              <a:t>. </a:t>
            </a:r>
          </a:p>
          <a:p>
            <a:r>
              <a:rPr lang="en-IN" b="1"/>
              <a:t>Creativity</a:t>
            </a:r>
          </a:p>
          <a:p>
            <a:pPr lvl="0"/>
            <a:r>
              <a:rPr lang="en-IN"/>
              <a:t>Introduces </a:t>
            </a:r>
            <a:r>
              <a:rPr lang="en-IN" b="1"/>
              <a:t>adaptive service composition</a:t>
            </a:r>
            <a:r>
              <a:rPr lang="en-IN"/>
              <a:t>, where the required microservices are selected according to the customer's request. </a:t>
            </a:r>
          </a:p>
          <a:p>
            <a:pPr lvl="0"/>
            <a:r>
              <a:rPr lang="en-IN"/>
              <a:t>A single natural-language request can trigger a sequence of services such as </a:t>
            </a:r>
            <a:r>
              <a:rPr lang="en-IN" b="1"/>
              <a:t>Product → Inventory → Cart → Order</a:t>
            </a:r>
            <a:r>
              <a:rPr lang="en-IN"/>
              <a:t>. </a:t>
            </a:r>
          </a:p>
          <a:p>
            <a:pPr lvl="0"/>
            <a:r>
              <a:rPr lang="en-IN"/>
              <a:t>Provides conversational responses instead of requiring users to manually perform every individual operation. </a:t>
            </a:r>
          </a:p>
          <a:p>
            <a:r>
              <a:rPr lang="en-IN" b="1"/>
              <a:t>Novelty</a:t>
            </a:r>
          </a:p>
          <a:p>
            <a:r>
              <a:rPr lang="en-IN" b="1"/>
              <a:t>The key novelty is an AI-assisted service composition layer that bridges natural-language customer requirements and distributed retail microservices, while keeping transaction validation and execution under backend control.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C4D898-79C9-1C41-FAA6-19DE1A9D92D6}"/>
              </a:ext>
            </a:extLst>
          </p:cNvPr>
          <p:cNvSpPr txBox="1"/>
          <p:nvPr/>
        </p:nvSpPr>
        <p:spPr>
          <a:xfrm>
            <a:off x="886968" y="1069848"/>
            <a:ext cx="101681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Technical Feasibility</a:t>
            </a:r>
          </a:p>
          <a:p>
            <a:r>
              <a:rPr lang="en-IN"/>
              <a:t>The proposed system is technically feasible using widely available development technologies and frameworks. The backend can be implemented using </a:t>
            </a:r>
            <a:r>
              <a:rPr lang="en-IN" b="1"/>
              <a:t>Java and Spring Boot</a:t>
            </a:r>
            <a:r>
              <a:rPr lang="en-IN"/>
              <a:t>, with independent microservices for retail operations. </a:t>
            </a:r>
            <a:r>
              <a:rPr lang="en-IN" b="1"/>
              <a:t>Spring Cloud Eureka</a:t>
            </a:r>
            <a:r>
              <a:rPr lang="en-IN"/>
              <a:t> can provide service discovery, while </a:t>
            </a:r>
            <a:r>
              <a:rPr lang="en-IN" b="1"/>
              <a:t>Spring Cloud Gateway</a:t>
            </a:r>
            <a:r>
              <a:rPr lang="en-IN"/>
              <a:t> can manage API routing. </a:t>
            </a:r>
            <a:r>
              <a:rPr lang="en-IN" b="1"/>
              <a:t>MySQL</a:t>
            </a:r>
            <a:r>
              <a:rPr lang="en-IN"/>
              <a:t> can be used for persistent data storage, and the </a:t>
            </a:r>
            <a:r>
              <a:rPr lang="en-IN" b="1"/>
              <a:t>ChatGPT/OpenAI API</a:t>
            </a:r>
            <a:r>
              <a:rPr lang="en-IN"/>
              <a:t> can provide natural-language understanding and intent extraction. </a:t>
            </a:r>
            <a:r>
              <a:rPr lang="en-IN" b="1"/>
              <a:t>Postman, Git, and IntelliJ IDEA/VS Code</a:t>
            </a:r>
            <a:r>
              <a:rPr lang="en-IN"/>
              <a:t> can be used for testing and development.</a:t>
            </a:r>
          </a:p>
          <a:p>
            <a:r>
              <a:rPr lang="en-IN" b="1"/>
              <a:t>Operational Feasibility</a:t>
            </a:r>
          </a:p>
          <a:p>
            <a:r>
              <a:rPr lang="en-IN"/>
              <a:t>The system is designed around commonly used online shopping workflows such as product search, inventory checking, cart management, and order processing. Users can interact through a simple web interface and natural-language queries, making the system easy to use without requiring knowledge of individual APIs.</a:t>
            </a:r>
          </a:p>
          <a:p>
            <a:r>
              <a:rPr lang="en-IN" b="1"/>
              <a:t>Economic Feasibility</a:t>
            </a:r>
          </a:p>
          <a:p>
            <a:r>
              <a:rPr lang="en-IN"/>
              <a:t>The project can be developed using mostly open-source tools such as Java, Spring Boot, Spring Cloud, MySQL, Maven, Git, and Postman. The main external cost is associated with </a:t>
            </a:r>
            <a:r>
              <a:rPr lang="en-IN" b="1"/>
              <a:t>OpenAI API usage</a:t>
            </a:r>
            <a:r>
              <a:rPr lang="en-IN"/>
              <a:t>, which can be controlled during development through limited testing and predefined queries.</a:t>
            </a:r>
          </a:p>
          <a:p>
            <a:r>
              <a:rPr lang="en-IN" b="1"/>
              <a:t>Project Feasibility</a:t>
            </a:r>
          </a:p>
          <a:p>
            <a:r>
              <a:rPr lang="en-IN"/>
              <a:t>The project can be developed incrementally by first implementing the individual microservices, followed by service discovery, API Gateway, inter-service communication, and finally ChatGPT integration and adaptive service composition.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34493-4909-976F-57D9-4B0EBA2DF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82D3EC-0328-736A-CF6D-310F441CD3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AEBC18-B456-0942-ACDC-595909D34DB2}"/>
              </a:ext>
            </a:extLst>
          </p:cNvPr>
          <p:cNvSpPr txBox="1"/>
          <p:nvPr/>
        </p:nvSpPr>
        <p:spPr>
          <a:xfrm>
            <a:off x="1381398" y="1743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B9D3A-3366-C611-A917-12F1EE400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A531E9-99DF-D9F7-CD66-FAC8EFE6DE5C}"/>
              </a:ext>
            </a:extLst>
          </p:cNvPr>
          <p:cNvSpPr txBox="1"/>
          <p:nvPr/>
        </p:nvSpPr>
        <p:spPr>
          <a:xfrm>
            <a:off x="886968" y="1069848"/>
            <a:ext cx="101681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Phase 1 – Requirement Analysis &amp; Architecture</a:t>
            </a:r>
          </a:p>
          <a:p>
            <a:pPr lvl="0"/>
            <a:r>
              <a:rPr lang="en-IN" dirty="0"/>
              <a:t>Identify system requirements </a:t>
            </a:r>
          </a:p>
          <a:p>
            <a:pPr lvl="0"/>
            <a:r>
              <a:rPr lang="en-IN" dirty="0"/>
              <a:t>Define retail services </a:t>
            </a:r>
          </a:p>
          <a:p>
            <a:pPr lvl="0"/>
            <a:r>
              <a:rPr lang="en-IN" dirty="0"/>
              <a:t>Design overall system architecture </a:t>
            </a:r>
          </a:p>
          <a:p>
            <a:pPr lvl="0"/>
            <a:r>
              <a:rPr lang="en-IN" dirty="0"/>
              <a:t>Define database structure </a:t>
            </a:r>
          </a:p>
          <a:p>
            <a:r>
              <a:rPr lang="en-IN" b="1" dirty="0"/>
              <a:t>Phase 2 – Core Microservices</a:t>
            </a:r>
          </a:p>
          <a:p>
            <a:pPr lvl="0"/>
            <a:r>
              <a:rPr lang="en-IN" dirty="0"/>
              <a:t>Develop User Service </a:t>
            </a:r>
          </a:p>
          <a:p>
            <a:pPr lvl="0"/>
            <a:r>
              <a:rPr lang="en-IN" dirty="0"/>
              <a:t>Develop Product Service </a:t>
            </a:r>
          </a:p>
          <a:p>
            <a:pPr lvl="0"/>
            <a:r>
              <a:rPr lang="en-IN" dirty="0"/>
              <a:t>Develop Inventory Service </a:t>
            </a:r>
          </a:p>
          <a:p>
            <a:pPr lvl="0"/>
            <a:r>
              <a:rPr lang="en-IN" dirty="0"/>
              <a:t>Develop Cart Service </a:t>
            </a:r>
          </a:p>
          <a:p>
            <a:r>
              <a:rPr lang="en-IN" b="1" dirty="0"/>
              <a:t>Phase 3 – Transaction Services</a:t>
            </a:r>
          </a:p>
          <a:p>
            <a:pPr lvl="0"/>
            <a:r>
              <a:rPr lang="en-IN" dirty="0"/>
              <a:t>Develop Order Service </a:t>
            </a:r>
          </a:p>
          <a:p>
            <a:pPr lvl="0"/>
            <a:r>
              <a:rPr lang="en-IN" dirty="0"/>
              <a:t>Develop Payment Service </a:t>
            </a:r>
          </a:p>
          <a:p>
            <a:pPr lvl="0"/>
            <a:r>
              <a:rPr lang="en-IN" dirty="0"/>
              <a:t>Develop Notification Service </a:t>
            </a:r>
          </a:p>
          <a:p>
            <a:pPr lvl="0"/>
            <a:r>
              <a:rPr lang="en-IN" dirty="0"/>
              <a:t>Integrate databases </a:t>
            </a:r>
          </a:p>
          <a:p>
            <a:r>
              <a:rPr lang="en-IN" b="1" dirty="0"/>
              <a:t>Phase 4 – Microservice Infrastructure</a:t>
            </a:r>
          </a:p>
          <a:p>
            <a:pPr lvl="0"/>
            <a:r>
              <a:rPr lang="en-IN" dirty="0"/>
              <a:t>Implement Eureka Service Discovery </a:t>
            </a:r>
          </a:p>
          <a:p>
            <a:pPr lvl="0"/>
            <a:r>
              <a:rPr lang="en-IN" dirty="0"/>
              <a:t>Implement API Gateway </a:t>
            </a:r>
          </a:p>
          <a:p>
            <a:pPr lvl="0"/>
            <a:r>
              <a:rPr lang="en-IN" dirty="0"/>
              <a:t>Configure inter-service communication </a:t>
            </a:r>
          </a:p>
          <a:p>
            <a:pPr lvl="0"/>
            <a:r>
              <a:rPr lang="en-IN" dirty="0"/>
              <a:t>Implement centralized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17423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624E1-CA68-EF78-1A35-DBDEEA72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0EC5B-B7D5-E216-FE79-B902586300EF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D7E22-3A44-C529-FA91-2699E6A676E6}"/>
              </a:ext>
            </a:extLst>
          </p:cNvPr>
          <p:cNvSpPr txBox="1"/>
          <p:nvPr/>
        </p:nvSpPr>
        <p:spPr>
          <a:xfrm>
            <a:off x="1381398" y="1743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72250-DC52-25D3-EEA2-CE6F5D6F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C653D1-33B9-C76E-3F05-261FC404E3CB}"/>
              </a:ext>
            </a:extLst>
          </p:cNvPr>
          <p:cNvSpPr txBox="1"/>
          <p:nvPr/>
        </p:nvSpPr>
        <p:spPr>
          <a:xfrm>
            <a:off x="886968" y="1069848"/>
            <a:ext cx="1016812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Phase 5 – ChatGPT Integration</a:t>
            </a:r>
          </a:p>
          <a:p>
            <a:pPr lvl="0"/>
            <a:r>
              <a:rPr lang="en-IN" dirty="0"/>
              <a:t>Integrate OpenAI/ChatGPT API </a:t>
            </a:r>
          </a:p>
          <a:p>
            <a:pPr lvl="0"/>
            <a:r>
              <a:rPr lang="en-IN" dirty="0"/>
              <a:t>Develop natural-language request processing </a:t>
            </a:r>
          </a:p>
          <a:p>
            <a:pPr lvl="0"/>
            <a:r>
              <a:rPr lang="en-IN" dirty="0"/>
              <a:t>Extract intent, entities, and constraints </a:t>
            </a:r>
          </a:p>
          <a:p>
            <a:r>
              <a:rPr lang="en-IN" b="1" dirty="0"/>
              <a:t>Phase 6 – Adaptive Service Composition</a:t>
            </a:r>
          </a:p>
          <a:p>
            <a:pPr lvl="0"/>
            <a:r>
              <a:rPr lang="en-IN" dirty="0"/>
              <a:t>Map user intent to microservices </a:t>
            </a:r>
          </a:p>
          <a:p>
            <a:pPr lvl="0"/>
            <a:r>
              <a:rPr lang="en-IN" dirty="0"/>
              <a:t>Generate service workflows </a:t>
            </a:r>
          </a:p>
          <a:p>
            <a:pPr lvl="0"/>
            <a:r>
              <a:rPr lang="en-IN" dirty="0"/>
              <a:t>Execute and validate multi-service operations </a:t>
            </a:r>
          </a:p>
          <a:p>
            <a:pPr lvl="0"/>
            <a:r>
              <a:rPr lang="en-IN" dirty="0"/>
              <a:t>Aggregate service responses </a:t>
            </a:r>
          </a:p>
          <a:p>
            <a:r>
              <a:rPr lang="en-IN" b="1" dirty="0"/>
              <a:t>Phase 7 – Frontend &amp; Testing</a:t>
            </a:r>
          </a:p>
          <a:p>
            <a:pPr lvl="0"/>
            <a:r>
              <a:rPr lang="en-IN" dirty="0"/>
              <a:t>Develop shopping interface </a:t>
            </a:r>
          </a:p>
          <a:p>
            <a:pPr lvl="0"/>
            <a:r>
              <a:rPr lang="en-IN" dirty="0"/>
              <a:t>Integrate frontend with Gateway </a:t>
            </a:r>
          </a:p>
          <a:p>
            <a:pPr lvl="0"/>
            <a:r>
              <a:rPr lang="en-IN" dirty="0"/>
              <a:t>Test individual APIs </a:t>
            </a:r>
          </a:p>
          <a:p>
            <a:pPr lvl="0"/>
            <a:r>
              <a:rPr lang="en-IN" dirty="0"/>
              <a:t>Test complete conversational workflows </a:t>
            </a:r>
          </a:p>
          <a:p>
            <a:r>
              <a:rPr lang="en-IN" b="1" dirty="0"/>
              <a:t>Phase 8 – Evaluation &amp; Documentation</a:t>
            </a:r>
          </a:p>
          <a:p>
            <a:pPr lvl="0"/>
            <a:r>
              <a:rPr lang="en-IN" dirty="0"/>
              <a:t>Measure response time and success rate </a:t>
            </a:r>
          </a:p>
          <a:p>
            <a:pPr lvl="0"/>
            <a:r>
              <a:rPr lang="en-IN" dirty="0"/>
              <a:t>Evaluate intent recognition and service composition </a:t>
            </a:r>
          </a:p>
          <a:p>
            <a:pPr lvl="0"/>
            <a:r>
              <a:rPr lang="en-IN" dirty="0"/>
              <a:t>Prepare architecture diagrams </a:t>
            </a:r>
          </a:p>
          <a:p>
            <a:pPr lvl="0"/>
            <a:r>
              <a:rPr lang="en-IN" dirty="0"/>
              <a:t>Complete project report and final demonstration</a:t>
            </a:r>
          </a:p>
        </p:txBody>
      </p:sp>
    </p:spTree>
    <p:extLst>
      <p:ext uri="{BB962C8B-B14F-4D97-AF65-F5344CB8AC3E}">
        <p14:creationId xmlns:p14="http://schemas.microsoft.com/office/powerpoint/2010/main" val="422023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1190</Words>
  <Application>Microsoft Office PowerPoint</Application>
  <PresentationFormat>Widescreen</PresentationFormat>
  <Paragraphs>128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Rakesh Kumar</cp:lastModifiedBy>
  <cp:revision>36</cp:revision>
  <dcterms:created xsi:type="dcterms:W3CDTF">2026-08-08T06:33:56Z</dcterms:created>
  <dcterms:modified xsi:type="dcterms:W3CDTF">2026-08-25T08:44:13Z</dcterms:modified>
</cp:coreProperties>
</file>