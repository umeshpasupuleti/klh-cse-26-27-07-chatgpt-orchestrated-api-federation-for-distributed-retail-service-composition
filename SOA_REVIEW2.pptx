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5"/>
  </p:notesMasterIdLst>
  <p:sldIdLst>
    <p:sldId id="262" r:id="rId3"/>
    <p:sldId id="707" r:id="rId4"/>
    <p:sldId id="257" r:id="rId5"/>
    <p:sldId id="906" r:id="rId6"/>
    <p:sldId id="903" r:id="rId7"/>
    <p:sldId id="902" r:id="rId8"/>
    <p:sldId id="258" r:id="rId9"/>
    <p:sldId id="259" r:id="rId10"/>
    <p:sldId id="260" r:id="rId11"/>
    <p:sldId id="904" r:id="rId12"/>
    <p:sldId id="907" r:id="rId13"/>
    <p:sldId id="90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-955" y="-8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F6EA6A-8FF5-49DF-BDDD-F7431B447D8F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411EB6-9770-43AB-BBCE-044F1DB66B82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C905DC-9CDD-41AE-979C-F366BC0443ED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4FAC05-A025-4B8A-AB88-2AE8812F8A48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7906D5-6813-455D-BAA0-28A983958C32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309C4-DF5F-4FAA-9214-A2117415D598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83E30-D762-4164-BBF9-9799116ED611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EEB4AA-F6FE-4EF1-9FE6-D5606E858D35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B547F9-D0DE-4919-BAA4-23065C38E70B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0D9772-7494-4C65-A0D8-1FBD740B2E65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B089DC-0019-49C7-8AD2-EF5D896393D8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16266A-CA82-4709-A4C2-B8B2AD8F4816}" type="datetime3">
              <a:rPr lang="en-US" smtClean="0"/>
              <a:t>24 September 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Ph.D. Viva Voce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815263"/>
              </p:ext>
            </p:extLst>
          </p:nvPr>
        </p:nvGraphicFramePr>
        <p:xfrm>
          <a:off x="8193271" y="4898509"/>
          <a:ext cx="3702050" cy="10668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75236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2420030251 - M Rakesh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2420030576 – E Hitesh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2420030027 – P Umesh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743530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K. </a:t>
                      </a:r>
                      <a:r>
                        <a:rPr lang="en-US" sz="1400" b="1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Venkateswari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800" b="1">
                <a:solidFill>
                  <a:schemeClr val="bg1">
                    <a:lumMod val="95000"/>
                  </a:schemeClr>
                </a:solidFill>
              </a:rPr>
              <a:t>ChatGPT-Based Adaptive Service Composition for Natural Language-Driven Distributed Retail Microservices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Review-1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742025" y="1357299"/>
            <a:ext cx="6271184" cy="4143401"/>
            <a:chOff x="1929643" y="1656655"/>
            <a:chExt cx="6271184" cy="4143401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Gap Identification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Innovation, Creativity And </a:t>
              </a:r>
              <a:r>
                <a:rPr lang="en-US" b="1" dirty="0" err="1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Novelity</a:t>
              </a: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Feasibility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Project Plan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Problem Statemen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lang="en-US" sz="2000" b="1" dirty="0">
                  <a:solidFill>
                    <a:prstClr val="white"/>
                  </a:solidFill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Objectives</a:t>
              </a: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DD35271-AA73-29DD-F095-41074CB2A57C}"/>
              </a:ext>
            </a:extLst>
          </p:cNvPr>
          <p:cNvSpPr txBox="1"/>
          <p:nvPr/>
        </p:nvSpPr>
        <p:spPr>
          <a:xfrm>
            <a:off x="6592824" y="20299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20C662-0C20-B6A5-FA3B-4F0D2C9460A0}"/>
              </a:ext>
            </a:extLst>
          </p:cNvPr>
          <p:cNvSpPr txBox="1"/>
          <p:nvPr/>
        </p:nvSpPr>
        <p:spPr>
          <a:xfrm>
            <a:off x="1014984" y="1499616"/>
            <a:ext cx="101132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Modern e-commerce systems provide multiple services such as product search, inventory, cart, and order management.</a:t>
            </a:r>
            <a:br>
              <a:rPr lang="en-IN"/>
            </a:br>
            <a:r>
              <a:rPr lang="en-IN"/>
              <a:t>Users often need to perform several separate operations to complete a single shopping requirement.</a:t>
            </a:r>
            <a:br>
              <a:rPr lang="en-IN"/>
            </a:br>
            <a:r>
              <a:rPr lang="en-IN"/>
              <a:t>Existing microservice architectures do not inherently understand complex natural-language requests.</a:t>
            </a:r>
            <a:br>
              <a:rPr lang="en-IN"/>
            </a:br>
            <a:r>
              <a:rPr lang="en-IN"/>
              <a:t>There is a need for an intelligent mechanism to interpret user intent and coordinate the required services.</a:t>
            </a:r>
            <a:br>
              <a:rPr lang="en-IN"/>
            </a:br>
            <a:r>
              <a:rPr lang="en-IN"/>
              <a:t>The proposed system addresses this using </a:t>
            </a:r>
            <a:r>
              <a:rPr lang="en-IN" b="1"/>
              <a:t>ChatGPT-based adaptive service composition</a:t>
            </a:r>
            <a:r>
              <a:rPr lang="en-IN"/>
              <a:t> across distributed retail microservices.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1C5E9-CD04-6B13-1434-9B82F7779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A473D1D-8FEC-388E-EB71-5D16345A1791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F8F317-9B11-4B8B-62B5-48241C79AF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450E8F7-85EE-4CD5-D0D5-9DE4C7049001}"/>
              </a:ext>
            </a:extLst>
          </p:cNvPr>
          <p:cNvSpPr txBox="1"/>
          <p:nvPr/>
        </p:nvSpPr>
        <p:spPr>
          <a:xfrm>
            <a:off x="6592824" y="202996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AD7AB04-160F-F439-F7C7-28C72CC475BF}"/>
              </a:ext>
            </a:extLst>
          </p:cNvPr>
          <p:cNvSpPr txBox="1"/>
          <p:nvPr/>
        </p:nvSpPr>
        <p:spPr>
          <a:xfrm>
            <a:off x="1014984" y="1499616"/>
            <a:ext cx="101132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/>
              <a:t>Modern e-commerce systems provide multiple services such as product search, inventory, cart, and order management.</a:t>
            </a:r>
            <a:br>
              <a:rPr lang="en-IN"/>
            </a:br>
            <a:r>
              <a:rPr lang="en-IN"/>
              <a:t>Users often need to perform several separate operations to complete a single shopping requirement.</a:t>
            </a:r>
            <a:br>
              <a:rPr lang="en-IN"/>
            </a:br>
            <a:r>
              <a:rPr lang="en-IN"/>
              <a:t>Existing microservice architectures do not inherently understand complex natural-language requests.</a:t>
            </a:r>
            <a:br>
              <a:rPr lang="en-IN"/>
            </a:br>
            <a:r>
              <a:rPr lang="en-IN"/>
              <a:t>There is a need for an intelligent mechanism to interpret user intent and coordinate the required services.</a:t>
            </a:r>
            <a:br>
              <a:rPr lang="en-IN"/>
            </a:br>
            <a:r>
              <a:rPr lang="en-IN"/>
              <a:t>The proposed system addresses this using </a:t>
            </a:r>
            <a:r>
              <a:rPr lang="en-IN" b="1"/>
              <a:t>ChatGPT-based adaptive service composition</a:t>
            </a:r>
            <a:r>
              <a:rPr lang="en-IN"/>
              <a:t> across distributed retail microservices.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0799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0FA6D3-2055-2D9C-9A71-87193EF97EA4}"/>
              </a:ext>
            </a:extLst>
          </p:cNvPr>
          <p:cNvSpPr txBox="1"/>
          <p:nvPr/>
        </p:nvSpPr>
        <p:spPr>
          <a:xfrm>
            <a:off x="978408" y="1517904"/>
            <a:ext cx="101681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/>
              <a:t>Develop a distributed retail microservice architecture</a:t>
            </a:r>
            <a:r>
              <a:rPr lang="en-IN"/>
              <a:t> for Product, Inventory, Cart, Order, Payment and related services. </a:t>
            </a:r>
          </a:p>
          <a:p>
            <a:pPr lvl="0"/>
            <a:r>
              <a:rPr lang="en-IN" b="1"/>
              <a:t>Integrate ChatGPT for natural-language intent and constraint extraction</a:t>
            </a:r>
            <a:r>
              <a:rPr lang="en-IN"/>
              <a:t> from customer requests. </a:t>
            </a:r>
          </a:p>
          <a:p>
            <a:pPr lvl="0"/>
            <a:r>
              <a:rPr lang="en-IN" b="1"/>
              <a:t>Develop an adaptive service-composition layer</a:t>
            </a:r>
            <a:r>
              <a:rPr lang="en-IN"/>
              <a:t> that maps user intent to the required retail microservices. </a:t>
            </a:r>
          </a:p>
          <a:p>
            <a:pPr lvl="0"/>
            <a:r>
              <a:rPr lang="en-IN" b="1"/>
              <a:t>Implement backend validation and controlled execution</a:t>
            </a:r>
            <a:r>
              <a:rPr lang="en-IN"/>
              <a:t> so that AI-generated actions cannot directly bypass business rules or databases.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96575481"/>
              </p:ext>
            </p:extLst>
          </p:nvPr>
        </p:nvGraphicFramePr>
        <p:xfrm>
          <a:off x="274646" y="689466"/>
          <a:ext cx="11642705" cy="6006990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986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Samoylenko H.T. &amp; Selivanova A.V. (2024)</a:t>
                      </a:r>
                      <a:endParaRPr lang="en-IN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Microservice Architecture of the E-Commerce System</a:t>
                      </a:r>
                      <a:endParaRPr lang="en-IN" sz="1400" b="1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Decomposes e-commerce functionality into independent microservices • Defines functional and non-functional requirements • Uses client-server and microservice architecture • Supports independent deployment and scaling</a:t>
                      </a:r>
                      <a:endParaRPr lang="en-IN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just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Microservices improve modularity, flexibility and scalability of e-commerce systems • Different business functions can be implemented as independent services • Provides a structured architecture for distributed retail applications</a:t>
                      </a:r>
                      <a:endParaRPr lang="en-US" sz="1400" b="0" i="0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Focuses mainly on architectural design of e-commerce microservices • Does not address natural-language interaction or AI-based service selection/composition </a:t>
                      </a:r>
                      <a:endParaRPr lang="en-US" sz="1400" b="0" i="0" u="none" kern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Wang et al. (Gorilla, 2023/2024)</a:t>
                      </a:r>
                      <a:endParaRPr lang="en-IN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/>
                        <a:t>Gorilla: Teaching LLMs to Use Tools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Fine-tunes an LLM for API/tool usage • Introduces </a:t>
                      </a:r>
                      <a:r>
                        <a:rPr lang="en-IN" sz="1400" b="1" dirty="0" err="1"/>
                        <a:t>APIBench</a:t>
                      </a:r>
                      <a:r>
                        <a:rPr lang="en-IN" sz="1400" dirty="0"/>
                        <a:t> for evaluating API calls • Uses document retrieval to handle changing API documentation • Focuses on accurate API generation and tool selection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LLMs can interact with external APIs and tools • Retrieval improves adaptation to changing APIs • Demonstrates the potential of LLMs for converting natural-language requirements into executable API calls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Primarily focuses on generating API calls rather than complete multi-service retail workflows • Reliability, validation and orchestration across multiple business services remain important challenges </a:t>
                      </a:r>
                      <a:endParaRPr lang="en-US" sz="1400" b="0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IN" sz="1400" dirty="0"/>
                        <a:t>Qin et al. (2023)</a:t>
                      </a:r>
                      <a:endParaRPr lang="en-IN" sz="1400" b="1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400" dirty="0" err="1"/>
                        <a:t>ToolLLM</a:t>
                      </a:r>
                      <a:r>
                        <a:rPr lang="en-IN" sz="1400" dirty="0"/>
                        <a:t>: Facilitating Large Language Models to Master 16,000+ Real-World APIs</a:t>
                      </a:r>
                      <a:endParaRPr lang="en-IN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Develops a general tool-use framework for LLMs • Creates the </a:t>
                      </a:r>
                      <a:r>
                        <a:rPr lang="en-IN" sz="1400" b="1" dirty="0" err="1"/>
                        <a:t>ToolBench</a:t>
                      </a:r>
                      <a:r>
                        <a:rPr lang="en-IN" sz="1400" dirty="0"/>
                        <a:t> dataset using ChatGPT-generated instructions • Trains and evaluates models for selecting and using real-world APIs</a:t>
                      </a:r>
                      <a:endParaRPr lang="en-US" sz="1400" b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LLMs can learn to identify and invoke large numbers of external APIs to satisfy user instructions • Demonstrates the feasibility of tool-based natural-language interaction</a:t>
                      </a:r>
                      <a:endParaRPr lang="en-US" sz="1400" b="0" i="0" u="none" kern="1200" dirty="0">
                        <a:solidFill>
                          <a:schemeClr val="dk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 algn="l" defTabSz="914400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IN" sz="1400" dirty="0"/>
                        <a:t>• Primarily addresses general API/tool usage rather than domain-specific retail service composition • Coordinating multiple dependent APIs and enforcing business constraints requires additional system-level orchestration </a:t>
                      </a:r>
                      <a:endParaRPr lang="en-US" sz="1400" b="1" i="0" u="none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6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Problem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8B562A3-6EF1-9F08-D010-D743A718D644}"/>
              </a:ext>
            </a:extLst>
          </p:cNvPr>
          <p:cNvSpPr txBox="1"/>
          <p:nvPr/>
        </p:nvSpPr>
        <p:spPr>
          <a:xfrm>
            <a:off x="905256" y="1728216"/>
            <a:ext cx="1025042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Gap 1 — No intelligent retail-specific service composition</a:t>
            </a:r>
            <a:br>
              <a:rPr lang="en-IN"/>
            </a:br>
            <a:r>
              <a:rPr lang="en-IN"/>
              <a:t>Existing e-commerce microservice research establishes modular and scalable service architectures, but does not provide an AI-driven mechanism for dynamically composing services from natural-language shopping requirements. </a:t>
            </a:r>
          </a:p>
          <a:p>
            <a:r>
              <a:rPr lang="en-IN" b="1"/>
              <a:t>Gap 2 — API-use research is not focused on retail transactions</a:t>
            </a:r>
            <a:br>
              <a:rPr lang="en-IN"/>
            </a:br>
            <a:r>
              <a:rPr lang="en-IN"/>
              <a:t>LLM API-use studies demonstrate API selection and invocation, but they do not sufficiently address domain-specific constraints such as inventory validation, cart operations, order consistency, and payment workflows. </a:t>
            </a:r>
          </a:p>
          <a:p>
            <a:r>
              <a:rPr lang="en-IN" b="1"/>
              <a:t>Gap 3 — Service composition requires validation and orchestration</a:t>
            </a:r>
            <a:br>
              <a:rPr lang="en-IN"/>
            </a:br>
            <a:r>
              <a:rPr lang="en-IN"/>
              <a:t>Research on ChatGPT-based service composition shows that LLMs can help generate multi-service workflows, but reliable execution still requires backend validation, dependency management, and controlled orchestration. 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4387226-F29E-0041-5581-4EF07C7198F1}"/>
              </a:ext>
            </a:extLst>
          </p:cNvPr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Innovation, Creativity, and Novelty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D5C8AE-5021-FEDF-73C4-6DA450228388}"/>
              </a:ext>
            </a:extLst>
          </p:cNvPr>
          <p:cNvSpPr txBox="1"/>
          <p:nvPr/>
        </p:nvSpPr>
        <p:spPr>
          <a:xfrm>
            <a:off x="1014984" y="1554480"/>
            <a:ext cx="10204704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Innovation</a:t>
            </a:r>
          </a:p>
          <a:p>
            <a:pPr lvl="0"/>
            <a:r>
              <a:rPr lang="en-IN"/>
              <a:t>Integration of </a:t>
            </a:r>
            <a:r>
              <a:rPr lang="en-IN" b="1"/>
              <a:t>ChatGPT with a distributed retail microservice architecture</a:t>
            </a:r>
            <a:r>
              <a:rPr lang="en-IN"/>
              <a:t>. </a:t>
            </a:r>
          </a:p>
          <a:p>
            <a:pPr lvl="0"/>
            <a:r>
              <a:rPr lang="en-IN"/>
              <a:t>Enables customers to interact with the shopping system using </a:t>
            </a:r>
            <a:r>
              <a:rPr lang="en-IN" b="1"/>
              <a:t>natural-language queries</a:t>
            </a:r>
            <a:r>
              <a:rPr lang="en-IN"/>
              <a:t>. </a:t>
            </a:r>
          </a:p>
          <a:p>
            <a:pPr lvl="0"/>
            <a:r>
              <a:rPr lang="en-IN"/>
              <a:t>Converts user requirements into structured </a:t>
            </a:r>
            <a:r>
              <a:rPr lang="en-IN" b="1"/>
              <a:t>intent, entities, constraints, and actions</a:t>
            </a:r>
            <a:r>
              <a:rPr lang="en-IN"/>
              <a:t>. </a:t>
            </a:r>
          </a:p>
          <a:p>
            <a:r>
              <a:rPr lang="en-IN" b="1"/>
              <a:t>Creativity</a:t>
            </a:r>
          </a:p>
          <a:p>
            <a:pPr lvl="0"/>
            <a:r>
              <a:rPr lang="en-IN"/>
              <a:t>Introduces </a:t>
            </a:r>
            <a:r>
              <a:rPr lang="en-IN" b="1"/>
              <a:t>adaptive service composition</a:t>
            </a:r>
            <a:r>
              <a:rPr lang="en-IN"/>
              <a:t>, where the required microservices are selected according to the customer's request. </a:t>
            </a:r>
          </a:p>
          <a:p>
            <a:pPr lvl="0"/>
            <a:r>
              <a:rPr lang="en-IN"/>
              <a:t>A single natural-language request can trigger a sequence of services such as </a:t>
            </a:r>
            <a:r>
              <a:rPr lang="en-IN" b="1"/>
              <a:t>Product → Inventory → Cart → Order</a:t>
            </a:r>
            <a:r>
              <a:rPr lang="en-IN"/>
              <a:t>. </a:t>
            </a:r>
          </a:p>
          <a:p>
            <a:pPr lvl="0"/>
            <a:r>
              <a:rPr lang="en-IN"/>
              <a:t>Provides conversational responses instead of requiring users to manually perform every individual operation. </a:t>
            </a:r>
          </a:p>
          <a:p>
            <a:r>
              <a:rPr lang="en-IN" b="1"/>
              <a:t>Novelty</a:t>
            </a:r>
          </a:p>
          <a:p>
            <a:r>
              <a:rPr lang="en-IN" b="1"/>
              <a:t>The key novelty is an AI-assisted service composition layer that bridges natural-language customer requirements and distributed retail microservices, while keeping transaction validation and execution under backend control.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F7CE10-08D9-83CF-7508-12575531E1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0303AA-CEE8-2513-1736-59CB3A5EF8E4}"/>
              </a:ext>
            </a:extLst>
          </p:cNvPr>
          <p:cNvSpPr txBox="1"/>
          <p:nvPr/>
        </p:nvSpPr>
        <p:spPr>
          <a:xfrm>
            <a:off x="1381398" y="17438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3C4D898-79C9-1C41-FAA6-19DE1A9D92D6}"/>
              </a:ext>
            </a:extLst>
          </p:cNvPr>
          <p:cNvSpPr txBox="1"/>
          <p:nvPr/>
        </p:nvSpPr>
        <p:spPr>
          <a:xfrm>
            <a:off x="886968" y="1069848"/>
            <a:ext cx="1016812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/>
              <a:t>Technical Feasibility</a:t>
            </a:r>
          </a:p>
          <a:p>
            <a:r>
              <a:rPr lang="en-IN"/>
              <a:t>The proposed system is technically feasible using widely available development technologies and frameworks. The backend can be implemented using </a:t>
            </a:r>
            <a:r>
              <a:rPr lang="en-IN" b="1"/>
              <a:t>Java and Spring Boot</a:t>
            </a:r>
            <a:r>
              <a:rPr lang="en-IN"/>
              <a:t>, with independent microservices for retail operations. </a:t>
            </a:r>
            <a:r>
              <a:rPr lang="en-IN" b="1"/>
              <a:t>Spring Cloud Eureka</a:t>
            </a:r>
            <a:r>
              <a:rPr lang="en-IN"/>
              <a:t> can provide service discovery, while </a:t>
            </a:r>
            <a:r>
              <a:rPr lang="en-IN" b="1"/>
              <a:t>Spring Cloud Gateway</a:t>
            </a:r>
            <a:r>
              <a:rPr lang="en-IN"/>
              <a:t> can manage API routing. </a:t>
            </a:r>
            <a:r>
              <a:rPr lang="en-IN" b="1"/>
              <a:t>MySQL</a:t>
            </a:r>
            <a:r>
              <a:rPr lang="en-IN"/>
              <a:t> can be used for persistent data storage, and the </a:t>
            </a:r>
            <a:r>
              <a:rPr lang="en-IN" b="1"/>
              <a:t>ChatGPT/OpenAI API</a:t>
            </a:r>
            <a:r>
              <a:rPr lang="en-IN"/>
              <a:t> can provide natural-language understanding and intent extraction. </a:t>
            </a:r>
            <a:r>
              <a:rPr lang="en-IN" b="1"/>
              <a:t>Postman, Git, and IntelliJ IDEA/VS Code</a:t>
            </a:r>
            <a:r>
              <a:rPr lang="en-IN"/>
              <a:t> can be used for testing and development.</a:t>
            </a:r>
          </a:p>
          <a:p>
            <a:r>
              <a:rPr lang="en-IN" b="1"/>
              <a:t>Operational Feasibility</a:t>
            </a:r>
          </a:p>
          <a:p>
            <a:r>
              <a:rPr lang="en-IN"/>
              <a:t>The system is designed around commonly used online shopping workflows such as product search, inventory checking, cart management, and order processing. Users can interact through a simple web interface and natural-language queries, making the system easy to use without requiring knowledge of individual APIs.</a:t>
            </a:r>
          </a:p>
          <a:p>
            <a:r>
              <a:rPr lang="en-IN" b="1"/>
              <a:t>Economic Feasibility</a:t>
            </a:r>
          </a:p>
          <a:p>
            <a:r>
              <a:rPr lang="en-IN"/>
              <a:t>The project can be developed using mostly open-source tools such as Java, Spring Boot, Spring Cloud, MySQL, Maven, Git, and Postman. The main external cost is associated with </a:t>
            </a:r>
            <a:r>
              <a:rPr lang="en-IN" b="1"/>
              <a:t>OpenAI API usage</a:t>
            </a:r>
            <a:r>
              <a:rPr lang="en-IN"/>
              <a:t>, which can be controlled during development through limited testing and predefined queries.</a:t>
            </a:r>
          </a:p>
          <a:p>
            <a:r>
              <a:rPr lang="en-IN" b="1"/>
              <a:t>Project Feasibility</a:t>
            </a:r>
          </a:p>
          <a:p>
            <a:r>
              <a:rPr lang="en-IN"/>
              <a:t>The project can be developed incrementally by first implementing the individual microservices, followed by service discovery, API Gateway, inter-service communication, and finally ChatGPT integration and adaptive service composition.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34493-4909-976F-57D9-4B0EBA2DF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282D3EC-0328-736A-CF6D-310F441CD3E0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Feasibility and Project Plan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AEBC18-B456-0942-ACDC-595909D34DB2}"/>
              </a:ext>
            </a:extLst>
          </p:cNvPr>
          <p:cNvSpPr txBox="1"/>
          <p:nvPr/>
        </p:nvSpPr>
        <p:spPr>
          <a:xfrm>
            <a:off x="1381398" y="17438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DB9D3A-3366-C611-A917-12F1EE400B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CA531E9-99DF-D9F7-CD66-FAC8EFE6DE5C}"/>
              </a:ext>
            </a:extLst>
          </p:cNvPr>
          <p:cNvSpPr txBox="1"/>
          <p:nvPr/>
        </p:nvSpPr>
        <p:spPr>
          <a:xfrm>
            <a:off x="886968" y="1069848"/>
            <a:ext cx="1016812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Phase 1 – Requirement Analysis &amp; Architecture</a:t>
            </a:r>
          </a:p>
          <a:p>
            <a:pPr lvl="0"/>
            <a:r>
              <a:rPr lang="en-IN" dirty="0"/>
              <a:t>Identify system requirements </a:t>
            </a:r>
          </a:p>
          <a:p>
            <a:pPr lvl="0"/>
            <a:r>
              <a:rPr lang="en-IN" dirty="0"/>
              <a:t>Define retail services </a:t>
            </a:r>
          </a:p>
          <a:p>
            <a:pPr lvl="0"/>
            <a:r>
              <a:rPr lang="en-IN" dirty="0"/>
              <a:t>Design overall system architecture </a:t>
            </a:r>
          </a:p>
          <a:p>
            <a:pPr lvl="0"/>
            <a:r>
              <a:rPr lang="en-IN" dirty="0"/>
              <a:t>Define database structure </a:t>
            </a:r>
          </a:p>
          <a:p>
            <a:r>
              <a:rPr lang="en-IN" b="1" dirty="0"/>
              <a:t>Phase 2 – Core Microservices</a:t>
            </a:r>
          </a:p>
          <a:p>
            <a:pPr lvl="0"/>
            <a:r>
              <a:rPr lang="en-IN" dirty="0"/>
              <a:t>Develop User Service </a:t>
            </a:r>
          </a:p>
          <a:p>
            <a:pPr lvl="0"/>
            <a:r>
              <a:rPr lang="en-IN" dirty="0"/>
              <a:t>Develop Product Service </a:t>
            </a:r>
          </a:p>
          <a:p>
            <a:pPr lvl="0"/>
            <a:r>
              <a:rPr lang="en-IN" dirty="0"/>
              <a:t>Develop Inventory Service </a:t>
            </a:r>
          </a:p>
          <a:p>
            <a:pPr lvl="0"/>
            <a:r>
              <a:rPr lang="en-IN" dirty="0"/>
              <a:t>Develop Cart Service </a:t>
            </a:r>
          </a:p>
          <a:p>
            <a:r>
              <a:rPr lang="en-IN" b="1" dirty="0"/>
              <a:t>Phase 3 – Transaction Services</a:t>
            </a:r>
          </a:p>
          <a:p>
            <a:pPr lvl="0"/>
            <a:r>
              <a:rPr lang="en-IN" dirty="0"/>
              <a:t>Develop Order Service </a:t>
            </a:r>
          </a:p>
          <a:p>
            <a:pPr lvl="0"/>
            <a:r>
              <a:rPr lang="en-IN" dirty="0"/>
              <a:t>Develop Payment Service </a:t>
            </a:r>
          </a:p>
          <a:p>
            <a:pPr lvl="0"/>
            <a:r>
              <a:rPr lang="en-IN" dirty="0"/>
              <a:t>Develop Notification Service </a:t>
            </a:r>
          </a:p>
          <a:p>
            <a:pPr lvl="0"/>
            <a:r>
              <a:rPr lang="en-IN" dirty="0"/>
              <a:t>Integrate databases </a:t>
            </a:r>
          </a:p>
          <a:p>
            <a:r>
              <a:rPr lang="en-IN" b="1" dirty="0"/>
              <a:t>Phase 4 – Microservice Infrastructure</a:t>
            </a:r>
          </a:p>
          <a:p>
            <a:pPr lvl="0"/>
            <a:r>
              <a:rPr lang="en-IN" dirty="0"/>
              <a:t>Implement Eureka Service Discovery </a:t>
            </a:r>
          </a:p>
          <a:p>
            <a:pPr lvl="0"/>
            <a:r>
              <a:rPr lang="en-IN" dirty="0"/>
              <a:t>Implement API Gateway </a:t>
            </a:r>
          </a:p>
          <a:p>
            <a:pPr lvl="0"/>
            <a:r>
              <a:rPr lang="en-IN" dirty="0"/>
              <a:t>Configure inter-service communication </a:t>
            </a:r>
          </a:p>
          <a:p>
            <a:pPr lvl="0"/>
            <a:r>
              <a:rPr lang="en-IN" dirty="0"/>
              <a:t>Implement centralized configuration</a:t>
            </a:r>
          </a:p>
        </p:txBody>
      </p:sp>
    </p:spTree>
    <p:extLst>
      <p:ext uri="{BB962C8B-B14F-4D97-AF65-F5344CB8AC3E}">
        <p14:creationId xmlns:p14="http://schemas.microsoft.com/office/powerpoint/2010/main" val="31742317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22198D-436E-472E-0F2F-D99D1AD69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DBF4A88-A76C-7C06-9F82-3D8E9CD9C93A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/>
              <a:t>Project </a:t>
            </a:r>
            <a:r>
              <a:rPr lang="en-US" sz="4000" b="1" dirty="0" err="1"/>
              <a:t>WorkFlow</a:t>
            </a:r>
            <a:endParaRPr lang="en-US" sz="40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E013F9-9EA5-495D-24E7-FECBDB6EE6F2}"/>
              </a:ext>
            </a:extLst>
          </p:cNvPr>
          <p:cNvSpPr txBox="1"/>
          <p:nvPr/>
        </p:nvSpPr>
        <p:spPr>
          <a:xfrm>
            <a:off x="1381398" y="17438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3E99F72-BBD1-F27B-D5AD-46A6CB32EA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CCD795-71B1-7DEA-BCB8-981A94138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58944"/>
            <a:ext cx="12192000" cy="5572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7049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624E1-CA68-EF78-1A35-DBDEEA727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B80EC5B-B7D5-E216-FE79-B902586300EF}"/>
              </a:ext>
            </a:extLst>
          </p:cNvPr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 err="1"/>
              <a:t>FrontEnd</a:t>
            </a:r>
            <a:r>
              <a:rPr lang="en-US" sz="4000" b="1" dirty="0"/>
              <a:t> Implementation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FBD7E22-3A44-C529-FA91-2699E6A676E6}"/>
              </a:ext>
            </a:extLst>
          </p:cNvPr>
          <p:cNvSpPr txBox="1"/>
          <p:nvPr/>
        </p:nvSpPr>
        <p:spPr>
          <a:xfrm>
            <a:off x="1381398" y="174389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572250-DC52-25D3-EEA2-CE6F5D6F12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AB3862B-2A2C-25F3-3104-6976C22D1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39180"/>
            <a:ext cx="12192000" cy="5418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02374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</TotalTime>
  <Words>1186</Words>
  <Application>Microsoft Office PowerPoint</Application>
  <PresentationFormat>Widescreen</PresentationFormat>
  <Paragraphs>112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Calibri Light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Rakesh Kumar</cp:lastModifiedBy>
  <cp:revision>35</cp:revision>
  <dcterms:created xsi:type="dcterms:W3CDTF">2026-08-08T06:33:56Z</dcterms:created>
  <dcterms:modified xsi:type="dcterms:W3CDTF">2026-09-24T04:19:43Z</dcterms:modified>
</cp:coreProperties>
</file>